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Conversational NPCs with Real-Time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9202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A modular Metahuman NPC system · Unreal Engine 5.7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240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Claude LLM  ·  ElevenLabs TTS  ·  OpenAI Whisper  ·  ONNX 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788920"/>
            <a:ext cx="1549908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788920"/>
            <a:ext cx="15499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8A6FF"/>
                </a:solidFill>
              </a:rPr>
              <a:t>Emotionally Aware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07108" y="2788920"/>
            <a:ext cx="1860804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07108" y="2788920"/>
            <a:ext cx="18608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FB950"/>
                </a:solidFill>
              </a:rPr>
              <a:t>Procedurally Animated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5072" y="2788920"/>
            <a:ext cx="1161288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5072" y="2788920"/>
            <a:ext cx="1161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BC8CFF"/>
                </a:solidFill>
              </a:rPr>
              <a:t>Voice-Driven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3832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7673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External AI 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3832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FB950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7673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Subsystems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3832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C8CFF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7673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Scripted dialogue lines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82880"/>
            <a:ext cx="4206240" cy="64922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95360" y="3749039"/>
            <a:ext cx="2560320" cy="548640"/>
          </a:xfrm>
          <a:prstGeom prst="roundRect">
            <a:avLst>
              <a:gd name="adj" fmla="val 30000"/>
            </a:avLst>
          </a:prstGeom>
          <a:noFill/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37490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</a:rPr>
              <a:t>🎙️  Voice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0656" y="4297679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4709160"/>
            <a:ext cx="2560320" cy="548640"/>
          </a:xfrm>
          <a:prstGeom prst="roundRect">
            <a:avLst>
              <a:gd name="adj" fmla="val 30000"/>
            </a:avLst>
          </a:prstGeom>
          <a:noFill/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4709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C8CFF"/>
                </a:solidFill>
              </a:rPr>
              <a:t>🧠  Claude + PAD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0656" y="5257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5669280"/>
            <a:ext cx="2560320" cy="548640"/>
          </a:xfrm>
          <a:prstGeom prst="roundRect">
            <a:avLst>
              <a:gd name="adj" fmla="val 30000"/>
            </a:avLst>
          </a:prstGeom>
          <a:noFill/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5669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FB950"/>
                </a:solidFill>
              </a:rPr>
              <a:t>🗣️  Metahuman NPC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583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1B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12700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What the system does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8368"/>
            <a:ext cx="3788664" cy="347472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368"/>
            <a:ext cx="3788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60704"/>
            <a:ext cx="3788664" cy="384048"/>
          </a:xfrm>
          <a:prstGeom prst="roundRect">
            <a:avLst>
              <a:gd name="adj" fmla="val 15000"/>
            </a:avLst>
          </a:prstGeom>
          <a:solidFill>
            <a:srgbClr val="0D1D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088136"/>
            <a:ext cx="3678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🎙️  Microphone → Whisper STT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90472"/>
            <a:ext cx="3788664" cy="384048"/>
          </a:xfrm>
          <a:prstGeom prst="roundRect">
            <a:avLst>
              <a:gd name="adj" fmla="val 15000"/>
            </a:avLst>
          </a:prstGeom>
          <a:solidFill>
            <a:srgbClr val="0D1D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" y="1517904"/>
            <a:ext cx="3678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⌨️   Keyboard / text fallback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20240"/>
            <a:ext cx="3788664" cy="384048"/>
          </a:xfrm>
          <a:prstGeom prst="roundRect">
            <a:avLst>
              <a:gd name="adj" fmla="val 15000"/>
            </a:avLst>
          </a:prstGeom>
          <a:solidFill>
            <a:srgbClr val="0D1D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" y="1947672"/>
            <a:ext cx="3678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📷  Camera → ONNX face emotion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350008"/>
            <a:ext cx="3788664" cy="384048"/>
          </a:xfrm>
          <a:prstGeom prst="roundRect">
            <a:avLst>
              <a:gd name="adj" fmla="val 15000"/>
            </a:avLst>
          </a:prstGeom>
          <a:solidFill>
            <a:srgbClr val="0D1D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" y="2377440"/>
            <a:ext cx="3678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✋  Camera → ONNX hand gestures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9288" y="16184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5864" y="658368"/>
            <a:ext cx="3788664" cy="347472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864" y="658368"/>
            <a:ext cx="3788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C8CFF"/>
                </a:solidFill>
              </a:rPr>
              <a:t>BRAIN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5864" y="1060704"/>
            <a:ext cx="3788664" cy="384048"/>
          </a:xfrm>
          <a:prstGeom prst="roundRect">
            <a:avLst>
              <a:gd name="adj" fmla="val 15000"/>
            </a:avLst>
          </a:prstGeom>
          <a:solidFill>
            <a:srgbClr val="1A1428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00728" y="1088136"/>
            <a:ext cx="3678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Claude LLM — dialogue generation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45864" y="1490472"/>
            <a:ext cx="3788664" cy="384048"/>
          </a:xfrm>
          <a:prstGeom prst="roundRect">
            <a:avLst>
              <a:gd name="adj" fmla="val 15000"/>
            </a:avLst>
          </a:prstGeom>
          <a:solidFill>
            <a:srgbClr val="1A1428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00728" y="1517904"/>
            <a:ext cx="3678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PAD Emotion State Machine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45864" y="1920240"/>
            <a:ext cx="3788664" cy="384048"/>
          </a:xfrm>
          <a:prstGeom prst="roundRect">
            <a:avLst>
              <a:gd name="adj" fmla="val 15000"/>
            </a:avLst>
          </a:prstGeom>
          <a:solidFill>
            <a:srgbClr val="1A1428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00728" y="1947672"/>
            <a:ext cx="3678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Inventory unlock logic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5864" y="2350008"/>
            <a:ext cx="3788664" cy="384048"/>
          </a:xfrm>
          <a:prstGeom prst="roundRect">
            <a:avLst>
              <a:gd name="adj" fmla="val 15000"/>
            </a:avLst>
          </a:prstGeom>
          <a:solidFill>
            <a:srgbClr val="1A1428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00728" y="2377440"/>
            <a:ext cx="3678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DialogueComponent — history mgmt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3672" y="16184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80248" y="658368"/>
            <a:ext cx="3788664" cy="347472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80248" y="658368"/>
            <a:ext cx="3788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FB950"/>
                </a:solidFill>
              </a:rPr>
              <a:t>OUTPUT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0248" y="1060704"/>
            <a:ext cx="3788664" cy="384048"/>
          </a:xfrm>
          <a:prstGeom prst="roundRect">
            <a:avLst>
              <a:gd name="adj" fmla="val 15000"/>
            </a:avLst>
          </a:prstGeom>
          <a:solidFill>
            <a:srgbClr val="0D1E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5112" y="1088136"/>
            <a:ext cx="3678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🔊  ElevenLabs TTS — voice audio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80248" y="1490472"/>
            <a:ext cx="3788664" cy="384048"/>
          </a:xfrm>
          <a:prstGeom prst="roundRect">
            <a:avLst>
              <a:gd name="adj" fmla="val 15000"/>
            </a:avLst>
          </a:prstGeom>
          <a:solidFill>
            <a:srgbClr val="0D1E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5112" y="1517904"/>
            <a:ext cx="3678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👄  Lip sync — viseme schedule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80248" y="1920240"/>
            <a:ext cx="3788664" cy="384048"/>
          </a:xfrm>
          <a:prstGeom prst="roundRect">
            <a:avLst>
              <a:gd name="adj" fmla="val 15000"/>
            </a:avLst>
          </a:prstGeom>
          <a:solidFill>
            <a:srgbClr val="0D1E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5112" y="1947672"/>
            <a:ext cx="3678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😊  FACS face curves → RigLogic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80248" y="2350008"/>
            <a:ext cx="3788664" cy="384048"/>
          </a:xfrm>
          <a:prstGeom prst="roundRect">
            <a:avLst>
              <a:gd name="adj" fmla="val 15000"/>
            </a:avLst>
          </a:prstGeom>
          <a:solidFill>
            <a:srgbClr val="0D1E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5112" y="2377440"/>
            <a:ext cx="3678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🚶  Body FK — poses + overlays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217920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8B949E"/>
                </a:solidFill>
              </a:rPr>
              <a:t>All dialogue is model-generated — zero scripted branches.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65992" y="6583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1B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12700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Subsystem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Component ownership tree · UE4 delegates · Data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731520"/>
            <a:ext cx="3200400" cy="420624"/>
          </a:xfrm>
          <a:prstGeom prst="roundRect">
            <a:avLst>
              <a:gd name="adj" fmla="val 15000"/>
            </a:avLst>
          </a:prstGeom>
          <a:solidFill>
            <a:srgbClr val="0D1D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731520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</a:rPr>
              <a:t>ANPCCharacter  (root actor)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4410" y="1152144"/>
            <a:ext cx="12700" cy="585216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47546" y="1444752"/>
            <a:ext cx="12700" cy="292608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7546" y="1438402"/>
            <a:ext cx="4639564" cy="12700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2356" y="1737360"/>
            <a:ext cx="1783080" cy="685800"/>
          </a:xfrm>
          <a:prstGeom prst="roundRect">
            <a:avLst>
              <a:gd name="adj" fmla="val 15000"/>
            </a:avLst>
          </a:prstGeom>
          <a:solidFill>
            <a:srgbClr val="0D1D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" y="1792224"/>
            <a:ext cx="1655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8A6FF"/>
                </a:solidFill>
              </a:rPr>
              <a:t>💬 DialogueComponent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" y="2039112"/>
            <a:ext cx="1655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History, routing,
Claude API calls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03778" y="1444752"/>
            <a:ext cx="12700" cy="292608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03778" y="1438402"/>
            <a:ext cx="2783332" cy="12700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18588" y="1737360"/>
            <a:ext cx="1783080" cy="685800"/>
          </a:xfrm>
          <a:prstGeom prst="roundRect">
            <a:avLst>
              <a:gd name="adj" fmla="val 15000"/>
            </a:avLst>
          </a:prstGeom>
          <a:solidFill>
            <a:srgbClr val="1F0D0D"/>
          </a:solidFill>
          <a:ln w="9525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2596" y="1792224"/>
            <a:ext cx="1655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5149"/>
                </a:solidFill>
              </a:rPr>
              <a:t>❤️  EmotionComponent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2596" y="2039112"/>
            <a:ext cx="1655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PAD state machine,
decay, transitions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0010" y="1444752"/>
            <a:ext cx="12700" cy="292608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60010" y="1438402"/>
            <a:ext cx="927100" cy="12700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4820" y="1737360"/>
            <a:ext cx="1783080" cy="685800"/>
          </a:xfrm>
          <a:prstGeom prst="roundRect">
            <a:avLst>
              <a:gd name="adj" fmla="val 15000"/>
            </a:avLst>
          </a:prstGeom>
          <a:solidFill>
            <a:srgbClr val="0D1E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8828" y="1792224"/>
            <a:ext cx="1655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</a:rPr>
              <a:t>📷 VisionComponent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8828" y="2039112"/>
            <a:ext cx="1655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ONNX face + hand,
OpenCV DNN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16242" y="1444752"/>
            <a:ext cx="12700" cy="292608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74410" y="1438402"/>
            <a:ext cx="954532" cy="12700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31052" y="1737360"/>
            <a:ext cx="1783080" cy="685800"/>
          </a:xfrm>
          <a:prstGeom prst="roundRect">
            <a:avLst>
              <a:gd name="adj" fmla="val 15000"/>
            </a:avLst>
          </a:prstGeom>
          <a:solidFill>
            <a:srgbClr val="1F1808"/>
          </a:solidFill>
          <a:ln w="9525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5060" y="1792224"/>
            <a:ext cx="1655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29922"/>
                </a:solidFill>
              </a:rPr>
              <a:t>🔊 Voice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5060" y="2039112"/>
            <a:ext cx="1655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Whisper STT +
ElevenLabs TTS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2474" y="1444752"/>
            <a:ext cx="12700" cy="292608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74410" y="1438402"/>
            <a:ext cx="2810764" cy="12700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87284" y="1737360"/>
            <a:ext cx="1783080" cy="685800"/>
          </a:xfrm>
          <a:prstGeom prst="roundRect">
            <a:avLst>
              <a:gd name="adj" fmla="val 15000"/>
            </a:avLst>
          </a:prstGeom>
          <a:solidFill>
            <a:srgbClr val="1A1428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1292" y="1792224"/>
            <a:ext cx="1655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C8CFF"/>
                </a:solidFill>
              </a:rPr>
              <a:t>🕺 AnimComponents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51292" y="2039112"/>
            <a:ext cx="1655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Face · LipSync ·
Body FK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28706" y="1444752"/>
            <a:ext cx="12700" cy="292608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74410" y="1438402"/>
            <a:ext cx="4666996" cy="12700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43516" y="1737360"/>
            <a:ext cx="1783080" cy="685800"/>
          </a:xfrm>
          <a:prstGeom prst="roundRect">
            <a:avLst>
              <a:gd name="adj" fmla="val 15000"/>
            </a:avLst>
          </a:prstGeom>
          <a:solidFill>
            <a:srgbClr val="0C1E18"/>
          </a:solidFill>
          <a:ln w="9525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07524" y="1792224"/>
            <a:ext cx="1655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9D353"/>
                </a:solidFill>
              </a:rPr>
              <a:t>🎒 InventoryComponent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7524" y="2039112"/>
            <a:ext cx="1655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Emotion-gated
item unlocks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834640"/>
            <a:ext cx="5394960" cy="123444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8" y="2926080"/>
            <a:ext cx="51755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EDF3"/>
                </a:solidFill>
              </a:rPr>
              <a:t>Communication Pattern — UE4 Delegates (no direct coupling)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" y="318211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OnClaudeResponseReceived  →  ElevenLabs TTS · EmotionComponent · InventoryComponent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" y="338328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OnTTSAlignmentReceived    →  NPCLipSyncComponent · NPCBodyMotionComponent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" y="358444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OnEmotionChanged          →  MetahumanAnimComponent · InventoryComponent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" y="378561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OnTranscriptReady         →  DialogueComponent · NPCBodyMotionComponent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2834640"/>
            <a:ext cx="5669280" cy="123444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0488" y="2926080"/>
            <a:ext cx="5449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EDF3"/>
                </a:solidFill>
              </a:rPr>
              <a:t>Configuration — Blueprint Data Assets (no C++ recompile)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45352" y="318211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29922"/>
                </a:solidFill>
              </a:rPr>
              <a:t>NPCConfigDataAsset  — persona, voice ID, prompt, emotion defaults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45352" y="33832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29922"/>
                </a:solidFill>
              </a:rPr>
              <a:t>EmotionGraphDataAsset  — state graph nodes and transition rules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45352" y="358444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29922"/>
                </a:solidFill>
              </a:rPr>
              <a:t>InventoryDataAsset  — item catalogue and unlock conditions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45352" y="3785616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29922"/>
                </a:solidFill>
              </a:rPr>
              <a:t>BlendShapeMappingDataAsset  — emotion → FACS curve weights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65992" y="6583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1B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12700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Full Input → Output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End-to-end pipeline for a single NPC 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7223760" cy="347472"/>
          </a:xfrm>
          <a:prstGeom prst="roundRect">
            <a:avLst>
              <a:gd name="adj" fmla="val 15000"/>
            </a:avLst>
          </a:prstGeom>
          <a:solidFill>
            <a:srgbClr val="0D1D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740664"/>
            <a:ext cx="7114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🎙️  Microphone  (Windows waveIn — 16kHz, 16-bit mono)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7223760" cy="347472"/>
          </a:xfrm>
          <a:prstGeom prst="roundRect">
            <a:avLst>
              <a:gd name="adj" fmla="val 15000"/>
            </a:avLst>
          </a:prstGeom>
          <a:solidFill>
            <a:srgbClr val="0D1D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216152"/>
            <a:ext cx="7114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WAV encode → OpenAI Whisper  POST /v1/audio/transcriptions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664208"/>
            <a:ext cx="7223760" cy="347472"/>
          </a:xfrm>
          <a:prstGeom prst="roundRect">
            <a:avLst>
              <a:gd name="adj" fmla="val 15000"/>
            </a:avLst>
          </a:prstGeom>
          <a:solidFill>
            <a:srgbClr val="1A1428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" y="1691640"/>
            <a:ext cx="7114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DialogueComponent  — appends user emotion (ONNX vision) + conversation history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139696"/>
            <a:ext cx="7223760" cy="347472"/>
          </a:xfrm>
          <a:prstGeom prst="roundRect">
            <a:avLst>
              <a:gd name="adj" fmla="val 15000"/>
            </a:avLst>
          </a:prstGeom>
          <a:solidFill>
            <a:srgbClr val="1A1428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" y="2167128"/>
            <a:ext cx="7114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ClaudeAPISubsystem  —  POST /v1/messages  ·  rate-limited 0.5s  ·  3× exponential retry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15184"/>
            <a:ext cx="7223760" cy="347472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" y="2642616"/>
            <a:ext cx="7114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Parse JSON  →  "dialogue"  ·  "emotion_update[8]"  ·  "item_give"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136392"/>
            <a:ext cx="2346960" cy="438912"/>
          </a:xfrm>
          <a:prstGeom prst="roundRect">
            <a:avLst>
              <a:gd name="adj" fmla="val 15000"/>
            </a:avLst>
          </a:prstGeom>
          <a:solidFill>
            <a:srgbClr val="0D1D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" y="3163824"/>
            <a:ext cx="2237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ElevenLabs TTS
/with-timestamps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666744"/>
            <a:ext cx="2346960" cy="347472"/>
          </a:xfrm>
          <a:prstGeom prst="roundRect">
            <a:avLst>
              <a:gd name="adj" fmla="val 15000"/>
            </a:avLst>
          </a:prstGeom>
          <a:solidFill>
            <a:srgbClr val="0D1D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" y="3694176"/>
            <a:ext cx="2237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PCM audio +
char alignment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142232"/>
            <a:ext cx="2346960" cy="347472"/>
          </a:xfrm>
          <a:prstGeom prst="roundRect">
            <a:avLst>
              <a:gd name="adj" fmla="val 15000"/>
            </a:avLst>
          </a:prstGeom>
          <a:solidFill>
            <a:srgbClr val="0D1D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" y="4169664"/>
            <a:ext cx="2237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USoundWaveProcedural
playback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617720"/>
            <a:ext cx="2346960" cy="347472"/>
          </a:xfrm>
          <a:prstGeom prst="roundRect">
            <a:avLst>
              <a:gd name="adj" fmla="val 15000"/>
            </a:avLst>
          </a:prstGeom>
          <a:solidFill>
            <a:srgbClr val="0D1D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" y="4645152"/>
            <a:ext cx="2237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🔊 Audio + Lip Sync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49880" y="3136392"/>
            <a:ext cx="2346960" cy="438912"/>
          </a:xfrm>
          <a:prstGeom prst="roundRect">
            <a:avLst>
              <a:gd name="adj" fmla="val 15000"/>
            </a:avLst>
          </a:prstGeom>
          <a:solidFill>
            <a:srgbClr val="1F0D0D"/>
          </a:solidFill>
          <a:ln w="9525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04744" y="3163824"/>
            <a:ext cx="2237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EmotionComponent
ProcessSignal()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49880" y="3666744"/>
            <a:ext cx="2346960" cy="347472"/>
          </a:xfrm>
          <a:prstGeom prst="roundRect">
            <a:avLst>
              <a:gd name="adj" fmla="val 15000"/>
            </a:avLst>
          </a:prstGeom>
          <a:solidFill>
            <a:srgbClr val="1F0D0D"/>
          </a:solidFill>
          <a:ln w="9525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04744" y="3694176"/>
            <a:ext cx="2237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PAD state update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49880" y="4142232"/>
            <a:ext cx="2346960" cy="347472"/>
          </a:xfrm>
          <a:prstGeom prst="roundRect">
            <a:avLst>
              <a:gd name="adj" fmla="val 15000"/>
            </a:avLst>
          </a:prstGeom>
          <a:solidFill>
            <a:srgbClr val="1F0D0D"/>
          </a:solidFill>
          <a:ln w="9525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04744" y="4169664"/>
            <a:ext cx="2237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OnEmotionChanged
broadcast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49880" y="4617720"/>
            <a:ext cx="2346960" cy="347472"/>
          </a:xfrm>
          <a:prstGeom prst="roundRect">
            <a:avLst>
              <a:gd name="adj" fmla="val 15000"/>
            </a:avLst>
          </a:prstGeom>
          <a:solidFill>
            <a:srgbClr val="1F0D0D"/>
          </a:solidFill>
          <a:ln w="9525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04744" y="4645152"/>
            <a:ext cx="2237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😊 FACS curves
+ Body state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88280" y="3136392"/>
            <a:ext cx="2346960" cy="438912"/>
          </a:xfrm>
          <a:prstGeom prst="roundRect">
            <a:avLst>
              <a:gd name="adj" fmla="val 15000"/>
            </a:avLst>
          </a:prstGeom>
          <a:solidFill>
            <a:srgbClr val="1F1808"/>
          </a:solidFill>
          <a:ln w="9525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3144" y="3163824"/>
            <a:ext cx="2237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InventoryComponent
CheckUnlock()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88280" y="3666744"/>
            <a:ext cx="2346960" cy="347472"/>
          </a:xfrm>
          <a:prstGeom prst="roundRect">
            <a:avLst>
              <a:gd name="adj" fmla="val 15000"/>
            </a:avLst>
          </a:prstGeom>
          <a:solidFill>
            <a:srgbClr val="1F1808"/>
          </a:solidFill>
          <a:ln w="9525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43144" y="3694176"/>
            <a:ext cx="2237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Emotion threshold
+ keyword match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8280" y="4142232"/>
            <a:ext cx="2346960" cy="347472"/>
          </a:xfrm>
          <a:prstGeom prst="roundRect">
            <a:avLst>
              <a:gd name="adj" fmla="val 15000"/>
            </a:avLst>
          </a:prstGeom>
          <a:solidFill>
            <a:srgbClr val="1F1808"/>
          </a:solidFill>
          <a:ln w="9525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3144" y="4169664"/>
            <a:ext cx="2237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item_give check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88280" y="4617720"/>
            <a:ext cx="2346960" cy="347472"/>
          </a:xfrm>
          <a:prstGeom prst="roundRect">
            <a:avLst>
              <a:gd name="adj" fmla="val 15000"/>
            </a:avLst>
          </a:prstGeom>
          <a:solidFill>
            <a:srgbClr val="1F1808"/>
          </a:solidFill>
          <a:ln w="9525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3144" y="4645152"/>
            <a:ext cx="2237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🎒 Item given
to player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8229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LEGEND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1133856"/>
            <a:ext cx="164592" cy="164592"/>
          </a:xfrm>
          <a:prstGeom prst="roundRect">
            <a:avLst>
              <a:gd name="adj" fmla="val 5000"/>
            </a:avLst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109728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Voice / STT / LLM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20" y="1426464"/>
            <a:ext cx="164592" cy="164592"/>
          </a:xfrm>
          <a:prstGeom prst="roundRect">
            <a:avLst>
              <a:gd name="adj" fmla="val 5000"/>
            </a:avLst>
          </a:prstGeom>
          <a:solidFill>
            <a:srgbClr val="BC8C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138988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Dialogue orchestration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1719072"/>
            <a:ext cx="164592" cy="164592"/>
          </a:xfrm>
          <a:prstGeom prst="roundRect">
            <a:avLst>
              <a:gd name="adj" fmla="val 5000"/>
            </a:avLst>
          </a:prstGeom>
          <a:solidFill>
            <a:srgbClr val="F8514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168249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Emotion pipeline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20" y="2011680"/>
            <a:ext cx="164592" cy="164592"/>
          </a:xfrm>
          <a:prstGeom prst="roundRect">
            <a:avLst>
              <a:gd name="adj" fmla="val 5000"/>
            </a:avLst>
          </a:prstGeom>
          <a:solidFill>
            <a:srgbClr val="D299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197510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Inventory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75320" y="2304288"/>
            <a:ext cx="164592" cy="164592"/>
          </a:xfrm>
          <a:prstGeom prst="roundRect">
            <a:avLst>
              <a:gd name="adj" fmla="val 5000"/>
            </a:avLst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20" y="226771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Render output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65992" y="6583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1B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12700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API Connections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Three external services · sequential call order per NPC 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85800"/>
            <a:ext cx="1737360" cy="292608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858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8A6FF"/>
                </a:solidFill>
              </a:rPr>
              <a:t>1. Whisper STT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685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685800"/>
            <a:ext cx="1737360" cy="292608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6858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C8CFF"/>
                </a:solidFill>
              </a:rPr>
              <a:t>2. Claude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685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685800"/>
            <a:ext cx="1737360" cy="292608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6858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FB950"/>
                </a:solidFill>
              </a:rPr>
              <a:t>3. ElevenLabs TTS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115568"/>
            <a:ext cx="1188720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" y="1161288"/>
            <a:ext cx="1078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1115568"/>
            <a:ext cx="2651760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55064" y="1161288"/>
            <a:ext cx="2542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Endpoint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115568"/>
            <a:ext cx="1417320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6824" y="1161288"/>
            <a:ext cx="13075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Auth Header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1115568"/>
            <a:ext cx="1737360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24144" y="1161288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Input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1115568"/>
            <a:ext cx="2011680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1504" y="1161288"/>
            <a:ext cx="1901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115568"/>
            <a:ext cx="2514600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73184" y="1161288"/>
            <a:ext cx="2404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Notes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1645920"/>
            <a:ext cx="118872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" y="1682496"/>
            <a:ext cx="10789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A6FF"/>
                </a:solidFill>
              </a:rPr>
              <a:t>Whisper STT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1645920"/>
            <a:ext cx="265176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55064" y="1682496"/>
            <a:ext cx="25420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POST /v1/audio/transcriptions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1645920"/>
            <a:ext cx="141732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06824" y="1682496"/>
            <a:ext cx="13075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Authorization: Bearer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1645920"/>
            <a:ext cx="173736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24144" y="1682496"/>
            <a:ext cx="16276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WAV 16kHz mono
(Windows waveIn)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1645920"/>
            <a:ext cx="201168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61504" y="1682496"/>
            <a:ext cx="1901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Plain text transcript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1645920"/>
            <a:ext cx="251460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73184" y="1682496"/>
            <a:ext cx="24048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4× double buffers 0.5s each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176272"/>
            <a:ext cx="118872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" y="2212848"/>
            <a:ext cx="10789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C8CFF"/>
                </a:solidFill>
              </a:rPr>
              <a:t>Claude LLM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00200" y="2176272"/>
            <a:ext cx="265176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55064" y="2212848"/>
            <a:ext cx="25420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POST /v1/messages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1960" y="2176272"/>
            <a:ext cx="141732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06824" y="2212848"/>
            <a:ext cx="13075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x-api-key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0" y="2176272"/>
            <a:ext cx="173736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24144" y="2212848"/>
            <a:ext cx="16276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System prompt +
history + user emotion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2176272"/>
            <a:ext cx="201168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61504" y="2212848"/>
            <a:ext cx="1901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JSON: dialogue,
emotion_update[8],
item_give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18320" y="2176272"/>
            <a:ext cx="251460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73184" y="2212848"/>
            <a:ext cx="24048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claude-sonnet-4-6 · 512 tok max
0.5s rate limit · 3× retry backoff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2706624"/>
            <a:ext cx="118872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" y="2743200"/>
            <a:ext cx="10789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FB950"/>
                </a:solidFill>
              </a:rPr>
              <a:t>ElevenLabs TTS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2706624"/>
            <a:ext cx="265176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55064" y="2743200"/>
            <a:ext cx="25420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POST /v1/text-to-speech
/{voice_id}/with-timestamps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51960" y="2706624"/>
            <a:ext cx="141732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06824" y="2743200"/>
            <a:ext cx="13075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xi-api-key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0" y="2706624"/>
            <a:ext cx="173736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24144" y="2743200"/>
            <a:ext cx="16276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Dialogue text +
voice config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6640" y="2706624"/>
            <a:ext cx="201168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61504" y="2743200"/>
            <a:ext cx="1901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Base64 PCM 24kHz +
char-level alignment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2706624"/>
            <a:ext cx="251460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73184" y="2743200"/>
            <a:ext cx="24048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eleven_flash_v2_5
USoundWaveProcedural playback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4206240"/>
            <a:ext cx="3727704" cy="86868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4279392"/>
            <a:ext cx="3544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8A6FF"/>
                </a:solidFill>
              </a:rPr>
              <a:t>🔑  Key Storage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4507992"/>
            <a:ext cx="3544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Keys from environment variables: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4649724"/>
            <a:ext cx="3544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OPENAI_API_KEY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4791456"/>
            <a:ext cx="3544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ANTHROPIC_API_KEY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4933188"/>
            <a:ext cx="3544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ELEVENLABS_API_KEY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30624" y="4206240"/>
            <a:ext cx="3727704" cy="86868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22064" y="4279392"/>
            <a:ext cx="3544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29922"/>
                </a:solidFill>
              </a:rPr>
              <a:t>⚡  Rate Limiting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2064" y="4507992"/>
            <a:ext cx="3544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Claude: 0.5s min interval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22064" y="4649724"/>
            <a:ext cx="3544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429 / 5xx → exponential backoff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22064" y="4791456"/>
            <a:ext cx="3544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1s → 2s → 4s ± 25% jitter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22064" y="4933188"/>
            <a:ext cx="3544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Max 3 retries per request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49768" y="4206240"/>
            <a:ext cx="3727704" cy="86868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41208" y="4279392"/>
            <a:ext cx="3544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FB950"/>
                </a:solidFill>
              </a:rPr>
              <a:t>🔄  Async Pattern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41208" y="4507992"/>
            <a:ext cx="3544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All HTTP callbacks dispatch via: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41208" y="4649724"/>
            <a:ext cx="3544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AsyncTask(GameThread, ...)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41208" y="4791456"/>
            <a:ext cx="3544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Ensures UObject/delegate safety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41208" y="4933188"/>
            <a:ext cx="3544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No frame dependency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365992" y="6583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1B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12700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Claude Prompt &amp; Response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Structured JSON in / structured JSON out — zero freeform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8368"/>
            <a:ext cx="5614416" cy="589788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System Prompt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42416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58A6FF"/>
                </a:solidFill>
              </a:rPr>
              <a:t>[NPC Persona]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9888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  Name, backstory, speaking style,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  personality traits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84832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58A6FF"/>
                </a:solidFill>
              </a:rPr>
              <a:t>[Emotion Vocabulary]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32304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  Plutchik 8 emotions defined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79776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58A6FF"/>
                </a:solidFill>
              </a:rPr>
              <a:t>[Inventory Catalogue]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27248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  Items + unlock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74720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58A6FF"/>
                </a:solidFill>
              </a:rPr>
              <a:t>[Response Format Schema]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22192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  Strict JSON — no freeform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9664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D29922"/>
                </a:solidFill>
              </a:rPr>
              <a:t>[Current PAD State]  ← per-turn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17136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  Pleasure: 0.4  Arousal: 0.2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64608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D29922"/>
                </a:solidFill>
              </a:rPr>
              <a:t>[Player Emotion]  ← ONNX 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12080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  Detected: neutral (0.82)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59552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D29922"/>
                </a:solidFill>
              </a:rPr>
              <a:t>[Conversation History]  ← 20-turn buffer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07024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  [user] "…"  [assistant] "…"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3056" y="658368"/>
            <a:ext cx="5614416" cy="589788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749808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Required JSON Response Schema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1042416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1389888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58A6FF"/>
                </a:solidFill>
              </a:rPr>
              <a:t>  "dialogue":  "The spoken response text",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1737360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  // → routed directly to ElevenLabs TTS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084832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216" y="2432304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85149"/>
                </a:solidFill>
              </a:rPr>
              <a:t>  "emotion_update": 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2779776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D29922"/>
                </a:solidFill>
              </a:rPr>
              <a:t>    "joy": 0.2,  "trust": 0.5,  "fear": -0.1,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3127248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D29922"/>
                </a:solidFill>
              </a:rPr>
              <a:t>    "surprise": 0.0,  "sadness": 0.0,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3474720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D29922"/>
                </a:solidFill>
              </a:rPr>
              <a:t>    "disgust": 0.0,  "anger": 0.0,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3822192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D29922"/>
                </a:solidFill>
              </a:rPr>
              <a:t>    "anticipation": 0.3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216" y="4169664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  },  // → PAD state machine → FACS curves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4517136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4864608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BC8CFF"/>
                </a:solidFill>
              </a:rPr>
              <a:t>  "item_give": "key_of_the_old_tower"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5212080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  // → InventoryComponent (null if none)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5559552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0216" y="6400800"/>
            <a:ext cx="1239012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0216" y="6400800"/>
            <a:ext cx="12390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8A6FF"/>
                </a:solidFill>
              </a:rPr>
              <a:t>🔵 → TTS Audio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76388" y="6400800"/>
            <a:ext cx="1627632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76388" y="6400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85149"/>
                </a:solidFill>
              </a:rPr>
              <a:t>🔴 → Emotion Engine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41180" y="6400800"/>
            <a:ext cx="1239012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41180" y="6400800"/>
            <a:ext cx="12390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BC8CFF"/>
                </a:solidFill>
              </a:rPr>
              <a:t>🟣 → Inventory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65992" y="6583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1B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12700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ML / AI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Six AI components — three deployment tiers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554480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758952"/>
            <a:ext cx="1444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713232"/>
            <a:ext cx="1645920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0824" y="758952"/>
            <a:ext cx="15361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713232"/>
            <a:ext cx="1737360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758952"/>
            <a:ext cx="16276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Input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713232"/>
            <a:ext cx="1828800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4104" y="758952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713232"/>
            <a:ext cx="2743200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2904" y="758952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21240" y="713232"/>
            <a:ext cx="1371600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76104" y="758952"/>
            <a:ext cx="1261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Deploy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371600"/>
            <a:ext cx="155448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" y="1408176"/>
            <a:ext cx="1444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A6FF"/>
                </a:solidFill>
              </a:rPr>
              <a:t>Claude (Anthropic)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65960" y="1371600"/>
            <a:ext cx="164592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20824" y="1408176"/>
            <a:ext cx="15361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LLM — transformer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1880" y="1371600"/>
            <a:ext cx="173736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66744" y="1408176"/>
            <a:ext cx="16276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Text prompt + history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1371600"/>
            <a:ext cx="182880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4104" y="1408176"/>
            <a:ext cx="17190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Structured 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1371600"/>
            <a:ext cx="274320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32904" y="1408176"/>
            <a:ext cx="26334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Dialogue + emotional intent generation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21240" y="1371600"/>
            <a:ext cx="137160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76104" y="1408176"/>
            <a:ext cx="12618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A6FF"/>
                </a:solidFill>
              </a:rPr>
              <a:t>☁ External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029968"/>
            <a:ext cx="155448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" y="2066544"/>
            <a:ext cx="1444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FB950"/>
                </a:solidFill>
              </a:rPr>
              <a:t>ElevenLabs TTS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65960" y="2029968"/>
            <a:ext cx="164592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20824" y="2066544"/>
            <a:ext cx="15361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Neural voice synthesis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11880" y="2029968"/>
            <a:ext cx="173736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66744" y="2066544"/>
            <a:ext cx="16276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Text + voice config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49240" y="2029968"/>
            <a:ext cx="182880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04104" y="2066544"/>
            <a:ext cx="17190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PCM audio + phoneme timestamps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8040" y="2029968"/>
            <a:ext cx="274320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32904" y="2066544"/>
            <a:ext cx="26334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Realistic voice output + lip sync data source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21240" y="2029968"/>
            <a:ext cx="137160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76104" y="2066544"/>
            <a:ext cx="12618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A6FF"/>
                </a:solidFill>
              </a:rPr>
              <a:t>☁ External 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2688336"/>
            <a:ext cx="155448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" y="2724912"/>
            <a:ext cx="1444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29922"/>
                </a:solidFill>
              </a:rPr>
              <a:t>OpenAI Whisper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65960" y="2688336"/>
            <a:ext cx="164592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20824" y="2724912"/>
            <a:ext cx="15361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ASR — encoder-decoder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11880" y="2688336"/>
            <a:ext cx="173736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66744" y="2724912"/>
            <a:ext cx="16276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WAV audio (16kHz)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49240" y="2688336"/>
            <a:ext cx="182880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04104" y="2724912"/>
            <a:ext cx="17190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Text transcript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78040" y="2688336"/>
            <a:ext cx="274320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32904" y="2724912"/>
            <a:ext cx="26334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Player voice → text for Claude prompt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21240" y="2688336"/>
            <a:ext cx="137160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724912"/>
            <a:ext cx="12618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A6FF"/>
                </a:solidFill>
              </a:rPr>
              <a:t>☁ External API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3346704"/>
            <a:ext cx="155448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6344" y="3383280"/>
            <a:ext cx="1444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85149"/>
                </a:solidFill>
              </a:rPr>
              <a:t>PAD Emotion Engine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65960" y="3346704"/>
            <a:ext cx="164592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20824" y="3383280"/>
            <a:ext cx="15361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Graph state machine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11880" y="3346704"/>
            <a:ext cx="173736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66744" y="3383280"/>
            <a:ext cx="16276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Emotion delta (Plutchik 8)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49240" y="3346704"/>
            <a:ext cx="182880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04104" y="3383280"/>
            <a:ext cx="17190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3D PAD vector + named state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78040" y="3346704"/>
            <a:ext cx="274320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32904" y="3383280"/>
            <a:ext cx="26334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Continuous emotional state tracking and decay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21240" y="3346704"/>
            <a:ext cx="137160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76104" y="3383280"/>
            <a:ext cx="12618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FB950"/>
                </a:solidFill>
              </a:rPr>
              <a:t>⚙ Runtime C++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4005072"/>
            <a:ext cx="155448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6344" y="4041648"/>
            <a:ext cx="1444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C8CFF"/>
                </a:solidFill>
              </a:rPr>
              <a:t>Facial Classifier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65960" y="4005072"/>
            <a:ext cx="164592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20824" y="4041648"/>
            <a:ext cx="15361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CNN — ONNX (8-class)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11880" y="4005072"/>
            <a:ext cx="173736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66744" y="4041648"/>
            <a:ext cx="16276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Camera frame (OpenCV DNN)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49240" y="4005072"/>
            <a:ext cx="182880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04104" y="4041648"/>
            <a:ext cx="17190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Emotion label + confidence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178040" y="4005072"/>
            <a:ext cx="274320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232904" y="4041648"/>
            <a:ext cx="26334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Player emotional state → injected into Claude context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921240" y="4005072"/>
            <a:ext cx="137160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76104" y="4041648"/>
            <a:ext cx="12618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C8CFF"/>
                </a:solidFill>
              </a:rPr>
              <a:t>▣ On-device ONNX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4663440"/>
            <a:ext cx="155448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66344" y="4700016"/>
            <a:ext cx="1444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9D353"/>
                </a:solidFill>
              </a:rPr>
              <a:t>Hand Landmark Detector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65960" y="4663440"/>
            <a:ext cx="164592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20824" y="4700016"/>
            <a:ext cx="15361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Regression — ONNX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11880" y="4663440"/>
            <a:ext cx="173736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66744" y="4700016"/>
            <a:ext cx="16276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Camera frame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349240" y="4663440"/>
            <a:ext cx="182880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04104" y="4700016"/>
            <a:ext cx="17190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21-point hand skeleton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178040" y="4663440"/>
            <a:ext cx="274320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232904" y="4700016"/>
            <a:ext cx="26334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Pinch/Spread/Rotate → inventory / NPC reaction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21240" y="4663440"/>
            <a:ext cx="137160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76104" y="4700016"/>
            <a:ext cx="12618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C8CFF"/>
                </a:solidFill>
              </a:rPr>
              <a:t>▣ On-device ONNX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" y="5029200"/>
            <a:ext cx="3727704" cy="105156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21208" y="5120640"/>
            <a:ext cx="3508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☁  External APIs (3)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21208" y="5376672"/>
            <a:ext cx="35082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Claude · Whisper · ElevenLabs. Highest latency 100ms–2s. Require internet + API keys. Async with retry.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30624" y="5029200"/>
            <a:ext cx="3727704" cy="105156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340352" y="5120640"/>
            <a:ext cx="3508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C8CFF"/>
                </a:solidFill>
              </a:rPr>
              <a:t>▣  On-device ONNX (2)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40352" y="5376672"/>
            <a:ext cx="35082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Facial expression + hand landmark models. Run locally via OpenCV DNN. 10 FPS (face) / 15 FPS (hand). No API call needed.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049768" y="5029200"/>
            <a:ext cx="3727704" cy="105156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159496" y="5120640"/>
            <a:ext cx="3508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⚙  Runtime Engine (1)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159496" y="5376672"/>
            <a:ext cx="35082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PAD emotion state machine — pure C++ per-frame tick. Integrates Claude emotion deltas with 0.05/s decay rate.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365992" y="6583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1B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12700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PAD Emotion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Pleasure · Arousal · Dominance — continuous 3D emotion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49808"/>
            <a:ext cx="1371600" cy="685800"/>
          </a:xfrm>
          <a:prstGeom prst="roundRect">
            <a:avLst>
              <a:gd name="adj" fmla="val 15000"/>
            </a:avLst>
          </a:prstGeom>
          <a:solidFill>
            <a:srgbClr val="1F1808"/>
          </a:solidFill>
          <a:ln w="9525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804672"/>
            <a:ext cx="1225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29922"/>
                </a:solidFill>
              </a:rPr>
              <a:t>Joy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005840"/>
            <a:ext cx="12252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949E"/>
                </a:solidFill>
              </a:rPr>
              <a:t>P:+0.8  A:+0.5  D:+0.6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1225296"/>
            <a:ext cx="1225296" cy="64008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1225296"/>
            <a:ext cx="980236" cy="64008"/>
          </a:xfrm>
          <a:prstGeom prst="roundRect">
            <a:avLst>
              <a:gd name="adj" fmla="val 5000"/>
            </a:avLst>
          </a:prstGeom>
          <a:solidFill>
            <a:srgbClr val="D299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56232" y="749808"/>
            <a:ext cx="1371600" cy="685800"/>
          </a:xfrm>
          <a:prstGeom prst="roundRect">
            <a:avLst>
              <a:gd name="adj" fmla="val 15000"/>
            </a:avLst>
          </a:prstGeom>
          <a:solidFill>
            <a:srgbClr val="0D1D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9384" y="804672"/>
            <a:ext cx="1225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8A6FF"/>
                </a:solidFill>
              </a:rPr>
              <a:t>Sadness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9384" y="1005840"/>
            <a:ext cx="12252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949E"/>
                </a:solidFill>
              </a:rPr>
              <a:t>P:-0.7  A:-0.3  D:-0.5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9384" y="1225296"/>
            <a:ext cx="1225296" cy="64008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29384" y="1225296"/>
            <a:ext cx="245059" cy="64008"/>
          </a:xfrm>
          <a:prstGeom prst="roundRect">
            <a:avLst>
              <a:gd name="adj" fmla="val 5000"/>
            </a:avLst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0984" y="749808"/>
            <a:ext cx="1371600" cy="685800"/>
          </a:xfrm>
          <a:prstGeom prst="roundRect">
            <a:avLst>
              <a:gd name="adj" fmla="val 15000"/>
            </a:avLst>
          </a:prstGeom>
          <a:solidFill>
            <a:srgbClr val="1F0D0D"/>
          </a:solidFill>
          <a:ln w="9525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4136" y="804672"/>
            <a:ext cx="1225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5149"/>
                </a:solidFill>
              </a:rPr>
              <a:t>Anger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1005840"/>
            <a:ext cx="12252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949E"/>
                </a:solidFill>
              </a:rPr>
              <a:t>P:-0.5  A:+0.7  D:+0.8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74136" y="1225296"/>
            <a:ext cx="1225296" cy="64008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74136" y="1225296"/>
            <a:ext cx="857707" cy="64008"/>
          </a:xfrm>
          <a:prstGeom prst="roundRect">
            <a:avLst>
              <a:gd name="adj" fmla="val 5000"/>
            </a:avLst>
          </a:prstGeom>
          <a:solidFill>
            <a:srgbClr val="F8514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45736" y="749808"/>
            <a:ext cx="1371600" cy="685800"/>
          </a:xfrm>
          <a:prstGeom prst="roundRect">
            <a:avLst>
              <a:gd name="adj" fmla="val 15000"/>
            </a:avLst>
          </a:prstGeom>
          <a:solidFill>
            <a:srgbClr val="1A1428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8888" y="804672"/>
            <a:ext cx="1225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C8CFF"/>
                </a:solidFill>
              </a:rPr>
              <a:t>Fear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1005840"/>
            <a:ext cx="12252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949E"/>
                </a:solidFill>
              </a:rPr>
              <a:t>P:-0.6  A:+0.6  D:-0.7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18888" y="1225296"/>
            <a:ext cx="1225296" cy="64008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18888" y="1225296"/>
            <a:ext cx="367588" cy="64008"/>
          </a:xfrm>
          <a:prstGeom prst="roundRect">
            <a:avLst>
              <a:gd name="adj" fmla="val 5000"/>
            </a:avLst>
          </a:prstGeom>
          <a:solidFill>
            <a:srgbClr val="BC8C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1508760"/>
            <a:ext cx="1371600" cy="685800"/>
          </a:xfrm>
          <a:prstGeom prst="roundRect">
            <a:avLst>
              <a:gd name="adj" fmla="val 15000"/>
            </a:avLst>
          </a:prstGeom>
          <a:solidFill>
            <a:srgbClr val="0D1E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1563624"/>
            <a:ext cx="1225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FB950"/>
                </a:solidFill>
              </a:rPr>
              <a:t>Trust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1764792"/>
            <a:ext cx="12252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949E"/>
                </a:solidFill>
              </a:rPr>
              <a:t>P:+0.6  A:+0.1  D:+0.3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" y="1984248"/>
            <a:ext cx="1225296" cy="64008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4632" y="1984248"/>
            <a:ext cx="735177" cy="64008"/>
          </a:xfrm>
          <a:prstGeom prst="roundRect">
            <a:avLst>
              <a:gd name="adj" fmla="val 5000"/>
            </a:avLst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56232" y="1508760"/>
            <a:ext cx="1371600" cy="685800"/>
          </a:xfrm>
          <a:prstGeom prst="roundRect">
            <a:avLst>
              <a:gd name="adj" fmla="val 15000"/>
            </a:avLst>
          </a:prstGeom>
          <a:solidFill>
            <a:srgbClr val="0C1E18"/>
          </a:solidFill>
          <a:ln w="9525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9384" y="1563624"/>
            <a:ext cx="1225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9D353"/>
                </a:solidFill>
              </a:rPr>
              <a:t>Surprise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9384" y="1764792"/>
            <a:ext cx="12252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949E"/>
                </a:solidFill>
              </a:rPr>
              <a:t>P:+0.2  A:+0.8  D:-0.2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9384" y="1984248"/>
            <a:ext cx="1225296" cy="64008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29384" y="1984248"/>
            <a:ext cx="612648" cy="64008"/>
          </a:xfrm>
          <a:prstGeom prst="roundRect">
            <a:avLst>
              <a:gd name="adj" fmla="val 5000"/>
            </a:avLst>
          </a:prstGeom>
          <a:solidFill>
            <a:srgbClr val="39D353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00984" y="1508760"/>
            <a:ext cx="1371600" cy="685800"/>
          </a:xfrm>
          <a:prstGeom prst="roundRect">
            <a:avLst>
              <a:gd name="adj" fmla="val 15000"/>
            </a:avLst>
          </a:prstGeom>
          <a:solidFill>
            <a:srgbClr val="1F1808"/>
          </a:solidFill>
          <a:ln w="9525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74136" y="1563624"/>
            <a:ext cx="1225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29922"/>
                </a:solidFill>
              </a:rPr>
              <a:t>Anticipation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74136" y="1764792"/>
            <a:ext cx="12252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949E"/>
                </a:solidFill>
              </a:rPr>
              <a:t>P:+0.3  A:+0.4  D:+0.5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74136" y="1984248"/>
            <a:ext cx="1225296" cy="64008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74136" y="1984248"/>
            <a:ext cx="673912" cy="64008"/>
          </a:xfrm>
          <a:prstGeom prst="roundRect">
            <a:avLst>
              <a:gd name="adj" fmla="val 5000"/>
            </a:avLst>
          </a:prstGeom>
          <a:solidFill>
            <a:srgbClr val="D299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45736" y="1508760"/>
            <a:ext cx="1371600" cy="68580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18888" y="1563624"/>
            <a:ext cx="1225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949E"/>
                </a:solidFill>
              </a:rPr>
              <a:t>Neutral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1764792"/>
            <a:ext cx="12252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949E"/>
                </a:solidFill>
              </a:rPr>
              <a:t>P: 0.0  A: 0.0  D: 0.0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18888" y="1984248"/>
            <a:ext cx="1225296" cy="64008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818888" y="1984248"/>
            <a:ext cx="612648" cy="64008"/>
          </a:xfrm>
          <a:prstGeom prst="roundRect">
            <a:avLst>
              <a:gd name="adj" fmla="val 5000"/>
            </a:avLst>
          </a:prstGeom>
          <a:solidFill>
            <a:srgbClr val="8B949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749808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19088" y="822960"/>
            <a:ext cx="5266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8A6FF"/>
                </a:solidFill>
              </a:rPr>
              <a:t>Signal Processing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1024128"/>
            <a:ext cx="5266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Claude response → emotion_update[8] → highest-strength signal drives PAD delta. Multiple signals blend. Intensity decays 0.05/s toward neutral when idle.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1618488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19088" y="1691640"/>
            <a:ext cx="5266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8A6FF"/>
                </a:solidFill>
              </a:rPr>
              <a:t>Graph Transitions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9088" y="1892808"/>
            <a:ext cx="5266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EmotionGraphDataAsset: nodes = emotions, edges = rules. Each edge has conditions (PAD distance, time-in-state, signal strength). Lowest-cost valid path wins.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2487168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19088" y="2560320"/>
            <a:ext cx="5266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8A6FF"/>
                </a:solidFill>
              </a:rPr>
              <a:t>Per-NPC Cost Map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9088" y="2761488"/>
            <a:ext cx="5266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Stoic NPC: high cost for Sadness, low for Neutral. Volatile NPC: low cost for Anger. Personality encoded without changing the algorithm.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3355848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19088" y="3429000"/>
            <a:ext cx="5266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8A6FF"/>
                </a:solidFill>
              </a:rPr>
              <a:t>Downstream Output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19088" y="3630168"/>
            <a:ext cx="5266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PAD state → FACS blend shape weights (face) · Body animation state (Idle/Thinking/Speaking) · Inventory unlock threshold check.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65992" y="6583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1B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12700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Animation Synthesis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Three parallel tracks driven from one shared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347472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1091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</a:rPr>
              <a:t>Source:  PAD emotional state  +  ElevenLabs character-level alignment  →  three parallel animation tracks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3727704" cy="329184"/>
          </a:xfrm>
          <a:prstGeom prst="roundRect">
            <a:avLst>
              <a:gd name="adj" fmla="val 15000"/>
            </a:avLst>
          </a:prstGeom>
          <a:solidFill>
            <a:srgbClr val="0D1D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3727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8A6FF"/>
                </a:solidFill>
              </a:rPr>
              <a:t>A — Lip Sync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517904"/>
            <a:ext cx="3727704" cy="5020056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73152" cy="73152"/>
          </a:xfrm>
          <a:prstGeom prst="roundRect">
            <a:avLst>
              <a:gd name="adj" fmla="val 5000"/>
            </a:avLst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45920"/>
            <a:ext cx="3407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Character timestamps → viseme schedule (FPhonemeVisemeMapper)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67128"/>
            <a:ext cx="73152" cy="73152"/>
          </a:xfrm>
          <a:prstGeom prst="roundRect">
            <a:avLst>
              <a:gd name="adj" fmla="val 5000"/>
            </a:avLst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21408"/>
            <a:ext cx="3407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Digraph handling (th, sh, ch, ph, ng) + silence gap insertion &gt;80ms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42616"/>
            <a:ext cx="73152" cy="73152"/>
          </a:xfrm>
          <a:prstGeom prst="roundRect">
            <a:avLst>
              <a:gd name="adj" fmla="val 5000"/>
            </a:avLst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96896"/>
            <a:ext cx="3407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Per-frame: sample schedule at playbackElapsed seconds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18104"/>
            <a:ext cx="73152" cy="73152"/>
          </a:xfrm>
          <a:prstGeom prst="roundRect">
            <a:avLst>
              <a:gd name="adj" fmla="val 5000"/>
            </a:avLst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72384"/>
            <a:ext cx="3407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Smoothstep interpolation between bracketing viseme keys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93592"/>
            <a:ext cx="73152" cy="73152"/>
          </a:xfrm>
          <a:prstGeom prst="roundRect">
            <a:avLst>
              <a:gd name="adj" fmla="val 5000"/>
            </a:avLst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547872"/>
            <a:ext cx="3407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Asymmetric smoothing: closure fast-close 50/s · slow-open 7/s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069080"/>
            <a:ext cx="73152" cy="73152"/>
          </a:xfrm>
          <a:prstGeom prst="roundRect">
            <a:avLst>
              <a:gd name="adj" fmla="val 5000"/>
            </a:avLst>
          </a:prstGeom>
          <a:solidFill>
            <a:srgbClr val="58A6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3407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→ ARKit FACS morph targets via Metahuman RigLogic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0624" y="1188720"/>
            <a:ext cx="3727704" cy="329184"/>
          </a:xfrm>
          <a:prstGeom prst="roundRect">
            <a:avLst>
              <a:gd name="adj" fmla="val 15000"/>
            </a:avLst>
          </a:prstGeom>
          <a:solidFill>
            <a:srgbClr val="1F1808"/>
          </a:solidFill>
          <a:ln w="9525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30624" y="1188720"/>
            <a:ext cx="3727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29922"/>
                </a:solidFill>
              </a:rPr>
              <a:t>B — Facial Expression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0624" y="1517904"/>
            <a:ext cx="3727704" cy="5020056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22064" y="1691640"/>
            <a:ext cx="73152" cy="73152"/>
          </a:xfrm>
          <a:prstGeom prst="roundRect">
            <a:avLst>
              <a:gd name="adj" fmla="val 5000"/>
            </a:avLst>
          </a:prstGeom>
          <a:solidFill>
            <a:srgbClr val="D299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9224" y="1645920"/>
            <a:ext cx="3407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PAD state → EEmotionType → BlendShapeMappingDataAsset lookup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2064" y="2167128"/>
            <a:ext cx="73152" cy="73152"/>
          </a:xfrm>
          <a:prstGeom prst="roundRect">
            <a:avLst>
              <a:gd name="adj" fmla="val 5000"/>
            </a:avLst>
          </a:prstGeom>
          <a:solidFill>
            <a:srgbClr val="D299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9224" y="2121408"/>
            <a:ext cx="3407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Maps emotion → FACS AU curve names + weights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2064" y="2642616"/>
            <a:ext cx="73152" cy="73152"/>
          </a:xfrm>
          <a:prstGeom prst="roundRect">
            <a:avLst>
              <a:gd name="adj" fmla="val 5000"/>
            </a:avLst>
          </a:prstGeom>
          <a:solidFill>
            <a:srgbClr val="D299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9224" y="2596896"/>
            <a:ext cx="3407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e.g. Joy → cheekRaiser 0.7, mouthCornerPull 0.6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2064" y="3118104"/>
            <a:ext cx="73152" cy="73152"/>
          </a:xfrm>
          <a:prstGeom prst="roundRect">
            <a:avLst>
              <a:gd name="adj" fmla="val 5000"/>
            </a:avLst>
          </a:prstGeom>
          <a:solidFill>
            <a:srgbClr val="D299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9224" y="3072384"/>
            <a:ext cx="3407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Thinking pose: brow-only curves, auto-clears on TTS start or 15s timeout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2064" y="3593592"/>
            <a:ext cx="73152" cy="73152"/>
          </a:xfrm>
          <a:prstGeom prst="roundRect">
            <a:avLst>
              <a:gd name="adj" fmla="val 5000"/>
            </a:avLst>
          </a:prstGeom>
          <a:solidFill>
            <a:srgbClr val="D299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9224" y="3547872"/>
            <a:ext cx="3407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FInterpTo smoothing at speed 4.0 per frame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2064" y="4069080"/>
            <a:ext cx="73152" cy="73152"/>
          </a:xfrm>
          <a:prstGeom prst="roundRect">
            <a:avLst>
              <a:gd name="adj" fmla="val 5000"/>
            </a:avLst>
          </a:prstGeom>
          <a:solidFill>
            <a:srgbClr val="D299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59224" y="4023360"/>
            <a:ext cx="3407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→ SetFaceControl via reflection on Face AnimBP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9768" y="1188720"/>
            <a:ext cx="3727704" cy="329184"/>
          </a:xfrm>
          <a:prstGeom prst="roundRect">
            <a:avLst>
              <a:gd name="adj" fmla="val 15000"/>
            </a:avLst>
          </a:prstGeom>
          <a:solidFill>
            <a:srgbClr val="0D1E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9768" y="1188720"/>
            <a:ext cx="3727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FB950"/>
                </a:solidFill>
              </a:rPr>
              <a:t>C — Body Language (FK)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9768" y="1517904"/>
            <a:ext cx="3727704" cy="5020056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41208" y="1691640"/>
            <a:ext cx="73152" cy="73152"/>
          </a:xfrm>
          <a:prstGeom prst="roundRect">
            <a:avLst>
              <a:gd name="adj" fmla="val 5000"/>
            </a:avLst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8368" y="1645920"/>
            <a:ext cx="3407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3-state machine: Idle / Thinking / Speaking — blended by alphas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41208" y="2167128"/>
            <a:ext cx="73152" cy="73152"/>
          </a:xfrm>
          <a:prstGeom prst="roundRect">
            <a:avLst>
              <a:gd name="adj" fmla="val 5000"/>
            </a:avLst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8368" y="2121408"/>
            <a:ext cx="3407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OnTranscriptReady → Thinking · OnSpeechStarted → Speaking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41208" y="2642616"/>
            <a:ext cx="73152" cy="73152"/>
          </a:xfrm>
          <a:prstGeom prst="roundRect">
            <a:avLst>
              <a:gd name="adj" fmla="val 5000"/>
            </a:avLst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8368" y="2596896"/>
            <a:ext cx="3407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Gesture cycle: cosine blend Speaking ↔ SpeakingGesture (8s period)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41208" y="3118104"/>
            <a:ext cx="73152" cy="73152"/>
          </a:xfrm>
          <a:prstGeom prst="roundRect">
            <a:avLst>
              <a:gd name="adj" fmla="val 5000"/>
            </a:avLst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8368" y="3072384"/>
            <a:ext cx="3407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Sine overlays: breathing 0.25Hz · head drift 0.05Hz · nods 0.5Hz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41208" y="3593592"/>
            <a:ext cx="73152" cy="73152"/>
          </a:xfrm>
          <a:prstGeom prst="roundRect">
            <a:avLst>
              <a:gd name="adj" fmla="val 5000"/>
            </a:avLst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8368" y="3547872"/>
            <a:ext cx="3407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Shoulder sway micro-motion during speech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41208" y="4069080"/>
            <a:ext cx="73152" cy="73152"/>
          </a:xfrm>
          <a:prstGeom prst="roundRect">
            <a:avLst>
              <a:gd name="adj" fmla="val 5000"/>
            </a:avLst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8368" y="4023360"/>
            <a:ext cx="3407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→ 15 bones via OnBoneTransformsFinalizedMC delegate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65992" y="6583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1B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12700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Vision Input: Facial &amp; Gesture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On-device ONNX — no extra API cost · private · zero latency vs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0D1D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8A6FF"/>
                </a:solidFill>
              </a:rPr>
              <a:t>📷  Webcam Frame
(UCameraManagerSubsystem)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77724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1F1808"/>
          </a:solidFill>
          <a:ln w="9525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777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29922"/>
                </a:solidFill>
              </a:rPr>
              <a:t>OpenCV DNN  →  ONNX
Facial Classifier (8-class CNN)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777240"/>
            <a:ext cx="2194560" cy="585216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81381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• ~10 FPS timer (not tick)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96012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• Output: emotion + 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10642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• Threshold: 0.5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252728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• → Injected into Claude prompt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214884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1A1428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C8CFF"/>
                </a:solidFill>
              </a:rPr>
              <a:t>ONNX Hand Landmark
Detector (21-point regression)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2148840"/>
            <a:ext cx="2194560" cy="585216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218541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• ~15 FPS timer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33172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• Classifies: Pinch / Spread / Rotate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47802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• Spindle (two-hand distance)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624328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• → Inventory + NPC reactions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749808"/>
            <a:ext cx="4206240" cy="137160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2128" y="841248"/>
            <a:ext cx="39867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29922"/>
                </a:solidFill>
              </a:rPr>
              <a:t>Face → Claude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8" y="1069848"/>
            <a:ext cx="39867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FDetectedUserEmotion { type, confidence, probs[8] }
→ DialogueComponent annotates next user message
→ Claude sees player emotion and adjusts NPC response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2212848"/>
            <a:ext cx="4206240" cy="137160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2128" y="2304288"/>
            <a:ext cx="39867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C8CFF"/>
                </a:solidFill>
              </a:rPr>
              <a:t>Gesture → Inventory Bridge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8" y="2532888"/>
            <a:ext cx="39867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Pinch on InspectableItem → ObjectInspectWidget opens
NPC reacts to item inspection
Inventory unlock conditions may trigger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675888"/>
            <a:ext cx="4206240" cy="137160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2128" y="3767328"/>
            <a:ext cx="39867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FB950"/>
                </a:solidFill>
              </a:rPr>
              <a:t>Fallback Handling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8" y="3995928"/>
            <a:ext cx="39867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No face detected → keep last emotion or default Neutral
Hand not visible → timeout, reset gesture state
Fails gracefully without breaking dialogue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5992" y="6583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1B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12700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Inventory &amp; Emotion-Gated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LLM reasoning gates gameplay progression — zero scripted branches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5669280" cy="137160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04672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EDF3"/>
                </a:solidFill>
              </a:rPr>
              <a:t>FEmotionUnlockCondition  (per item)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29922"/>
                </a:solidFill>
              </a:rPr>
              <a:t>EmotionType:  ETrust,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1673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MinIntensity: 0.7,    // PAD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3619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MinDuration:  10.0s,  // must be sustained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5564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FB950"/>
                </a:solidFill>
              </a:rPr>
              <a:t>Keywords:     ["key", "tower", "secret"]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212848"/>
            <a:ext cx="5577840" cy="384048"/>
          </a:xfrm>
          <a:prstGeom prst="roundRect">
            <a:avLst>
              <a:gd name="adj" fmla="val 15000"/>
            </a:avLst>
          </a:prstGeom>
          <a:solidFill>
            <a:srgbClr val="1F0D0D"/>
          </a:solidFill>
          <a:ln w="9525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" y="2240280"/>
            <a:ext cx="5468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Claude emotion_update raises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259689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43200"/>
            <a:ext cx="5577840" cy="384048"/>
          </a:xfrm>
          <a:prstGeom prst="roundRect">
            <a:avLst>
              <a:gd name="adj" fmla="val 15000"/>
            </a:avLst>
          </a:prstGeom>
          <a:solidFill>
            <a:srgbClr val="1A1428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2770632"/>
            <a:ext cx="5468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PAD state: Trust &gt; 0.7  sustained &gt; 10s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312724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273552"/>
            <a:ext cx="5577840" cy="384048"/>
          </a:xfrm>
          <a:prstGeom prst="roundRect">
            <a:avLst>
              <a:gd name="adj" fmla="val 15000"/>
            </a:avLst>
          </a:prstGeom>
          <a:solidFill>
            <a:srgbClr val="1F1808"/>
          </a:solidFill>
          <a:ln w="9525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" y="3300984"/>
            <a:ext cx="5468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Keyword "key" appears in dialogue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5536" y="3657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803904"/>
            <a:ext cx="5577840" cy="384048"/>
          </a:xfrm>
          <a:prstGeom prst="roundRect">
            <a:avLst>
              <a:gd name="adj" fmla="val 15000"/>
            </a:avLst>
          </a:prstGeom>
          <a:solidFill>
            <a:srgbClr val="0D1E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" y="3831336"/>
            <a:ext cx="5468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Claude returns  item_give: "key_of_the_old_tower"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5536" y="418795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334256"/>
            <a:ext cx="5577840" cy="384048"/>
          </a:xfrm>
          <a:prstGeom prst="roundRect">
            <a:avLst>
              <a:gd name="adj" fmla="val 15000"/>
            </a:avLst>
          </a:prstGeom>
          <a:solidFill>
            <a:srgbClr val="0D1E1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" y="4361688"/>
            <a:ext cx="5468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EDF3"/>
                </a:solidFill>
              </a:rPr>
              <a:t>InventoryComponent::TryGiveItem() → OnItemGiven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713232"/>
            <a:ext cx="5577840" cy="137160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804672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C8CFF"/>
                </a:solidFill>
              </a:rPr>
              <a:t>Why It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1042416"/>
            <a:ext cx="53583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LLM reasoning directly gates gameplay. No scripted branches. No dialogue trees. The NPC decides when to give the item based on its emotional read of the conversation.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221992"/>
            <a:ext cx="5577840" cy="137160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2313432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8A6FF"/>
                </a:solidFill>
              </a:rPr>
              <a:t>Conversation Arc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2551176"/>
            <a:ext cx="53583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Trust accumulates across turns. Emotional state persists for the full session. Player must build genuine rapport — mechanical exploitation is bounded by PAD decay.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730752"/>
            <a:ext cx="5577840" cy="137160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3822192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FB950"/>
                </a:solidFill>
              </a:rPr>
              <a:t>Fallback Inputs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4059936"/>
            <a:ext cx="53583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</a:rPr>
              <a:t>Whisper STT fails 30s → FallbackManagerComponent switches to text widget. TTS fails → DialogueFallbackWidget shows text-only response. Zero-downtime degradation.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65992" y="6583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1B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12700"/>
          </a:xfrm>
          <a:prstGeom prst="rect">
            <a:avLst/>
          </a:prstGeom>
          <a:solidFill>
            <a:srgbClr val="30363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Summary &amp; Open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What's been built · what's still open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5614416" cy="53035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5340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✓  Achievements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201168" cy="201168"/>
          </a:xfrm>
          <a:prstGeom prst="roundRect">
            <a:avLst>
              <a:gd name="adj" fmla="val 5000"/>
            </a:avLst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52144"/>
            <a:ext cx="5065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End-to-end real-time conversational NPC — zero scripted dialogue lines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01168" cy="201168"/>
          </a:xfrm>
          <a:prstGeom prst="roundRect">
            <a:avLst>
              <a:gd name="adj" fmla="val 5000"/>
            </a:avLst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10512"/>
            <a:ext cx="5065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Unified PAD emotional state drives voice, face, and body simultaneously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87168"/>
            <a:ext cx="201168" cy="201168"/>
          </a:xfrm>
          <a:prstGeom prst="roundRect">
            <a:avLst>
              <a:gd name="adj" fmla="val 5000"/>
            </a:avLst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5065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Character-level lip sync from ElevenLabs alignment with asymmetric smoothing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45536"/>
            <a:ext cx="201168" cy="201168"/>
          </a:xfrm>
          <a:prstGeom prst="roundRect">
            <a:avLst>
              <a:gd name="adj" fmla="val 5000"/>
            </a:avLst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27248"/>
            <a:ext cx="5065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Procedural full-body FK animation — no AnimBP assets required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03904"/>
            <a:ext cx="201168" cy="201168"/>
          </a:xfrm>
          <a:prstGeom prst="roundRect">
            <a:avLst>
              <a:gd name="adj" fmla="val 5000"/>
            </a:avLst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85616"/>
            <a:ext cx="5065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On-device ONNX vision keeps player sensing local and private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62272"/>
            <a:ext cx="201168" cy="201168"/>
          </a:xfrm>
          <a:prstGeom prst="roundRect">
            <a:avLst>
              <a:gd name="adj" fmla="val 5000"/>
            </a:avLst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43984"/>
            <a:ext cx="5065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Emotion-gated item unlock — LLM reasoning gates gameplay progression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20640"/>
            <a:ext cx="201168" cy="201168"/>
          </a:xfrm>
          <a:prstGeom prst="roundRect">
            <a:avLst>
              <a:gd name="adj" fmla="val 5000"/>
            </a:avLst>
          </a:prstGeom>
          <a:solidFill>
            <a:srgbClr val="3FB95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02352"/>
            <a:ext cx="5065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Modular subsystem architecture — new NPC via data asset, no C++ recompile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713232"/>
            <a:ext cx="5614416" cy="53035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9525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822960"/>
            <a:ext cx="5340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29922"/>
                </a:solidFill>
              </a:rPr>
              <a:t>△  Open Challenges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0216" y="1170432"/>
            <a:ext cx="201168" cy="201168"/>
          </a:xfrm>
          <a:prstGeom prst="roundRect">
            <a:avLst>
              <a:gd name="adj" fmla="val 5000"/>
            </a:avLst>
          </a:prstGeom>
          <a:solidFill>
            <a:srgbClr val="D299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4536" y="1152144"/>
            <a:ext cx="5065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LLM API latency (~1–2s per turn) breaks real-time immersion at scale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0216" y="1828800"/>
            <a:ext cx="201168" cy="201168"/>
          </a:xfrm>
          <a:prstGeom prst="roundRect">
            <a:avLst>
              <a:gd name="adj" fmla="val 5000"/>
            </a:avLst>
          </a:prstGeom>
          <a:solidFill>
            <a:srgbClr val="D299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4536" y="1810512"/>
            <a:ext cx="5065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ONNX model accuracy degrades under variable lighting or partial occlusion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0216" y="2487168"/>
            <a:ext cx="201168" cy="201168"/>
          </a:xfrm>
          <a:prstGeom prst="roundRect">
            <a:avLst>
              <a:gd name="adj" fmla="val 5000"/>
            </a:avLst>
          </a:prstGeom>
          <a:solidFill>
            <a:srgbClr val="D299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74536" y="2468880"/>
            <a:ext cx="5065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PAD emotional state resets between sessions — no persistence layer yet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0216" y="3145536"/>
            <a:ext cx="201168" cy="201168"/>
          </a:xfrm>
          <a:prstGeom prst="roundRect">
            <a:avLst>
              <a:gd name="adj" fmla="val 5000"/>
            </a:avLst>
          </a:prstGeom>
          <a:solidFill>
            <a:srgbClr val="D299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74536" y="3127248"/>
            <a:ext cx="5065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Voice cloning ethics + ElevenLabs licensing boundaries for shipped games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0216" y="3803904"/>
            <a:ext cx="201168" cy="201168"/>
          </a:xfrm>
          <a:prstGeom prst="roundRect">
            <a:avLst>
              <a:gd name="adj" fmla="val 5000"/>
            </a:avLst>
          </a:prstGeom>
          <a:solidFill>
            <a:srgbClr val="D2992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74536" y="3785616"/>
            <a:ext cx="5065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Single NPC only — multi-NPC coordination and shared emotional memory TBD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6400800"/>
            <a:ext cx="694944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400800"/>
            <a:ext cx="694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8A6FF"/>
                </a:solidFill>
              </a:rPr>
              <a:t>UE 5.7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16152" y="6400800"/>
            <a:ext cx="1005840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6152" y="640080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BC8CFF"/>
                </a:solidFill>
              </a:rPr>
              <a:t>Claude API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31720" y="6400800"/>
            <a:ext cx="1005840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31720" y="640080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FB950"/>
                </a:solidFill>
              </a:rPr>
              <a:t>ElevenLabs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47288" y="6400800"/>
            <a:ext cx="772668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47288" y="6400800"/>
            <a:ext cx="7726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29922"/>
                </a:solidFill>
              </a:rPr>
              <a:t>Whisper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29684" y="6400800"/>
            <a:ext cx="1161288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29684" y="6400800"/>
            <a:ext cx="1161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9D353"/>
                </a:solidFill>
              </a:rPr>
              <a:t>ONNX Runtime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00700" y="6400800"/>
            <a:ext cx="1627632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00700" y="6400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8A6FF"/>
                </a:solidFill>
              </a:rPr>
              <a:t>Metahuman RigLogic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6053328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8B949E"/>
                </a:solidFill>
              </a:rPr>
              <a:t>"All dialogue emerges from model inference. Zero hand-authored lines."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65992" y="6583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